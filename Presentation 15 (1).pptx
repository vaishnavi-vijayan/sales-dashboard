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6" r:id="rId5"/>
    <p:sldId id="297" r:id="rId6"/>
    <p:sldId id="286" r:id="rId7"/>
    <p:sldId id="261" r:id="rId8"/>
    <p:sldId id="285" r:id="rId9"/>
    <p:sldId id="263" r:id="rId10"/>
    <p:sldId id="265" r:id="rId11"/>
    <p:sldId id="262" r:id="rId12"/>
    <p:sldId id="278" r:id="rId13"/>
    <p:sldId id="267" r:id="rId14"/>
    <p:sldId id="279" r:id="rId15"/>
    <p:sldId id="280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BB664-54CC-461E-B0EA-5E6133F8F212}" v="218" dt="2025-08-13T10:27:34.051"/>
    <p1510:client id="{560F8608-330D-43F3-94E7-25C95FB0D454}" v="598" dt="2025-08-13T09:50:08.534"/>
  </p1510:revLst>
</p1510:revInfo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34" autoAdjust="0"/>
    <p:restoredTop sz="87887" autoAdjust="0"/>
  </p:normalViewPr>
  <p:slideViewPr>
    <p:cSldViewPr snapToGrid="0" showGuides="1">
      <p:cViewPr varScale="1">
        <p:scale>
          <a:sx n="71" d="100"/>
          <a:sy n="71" d="100"/>
        </p:scale>
        <p:origin x="97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10/10/2025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10/10/2025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/>
          <a:lstStyle/>
          <a:p>
            <a:r>
              <a:rPr lang="en-US" dirty="0"/>
              <a:t> SALES DATA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2559" y="4867565"/>
            <a:ext cx="4264601" cy="12291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Presented by </a:t>
            </a:r>
            <a:endParaRPr lang="en-US"/>
          </a:p>
          <a:p>
            <a:r>
              <a:rPr lang="en-US" dirty="0"/>
              <a:t>VAISHNAVI V </a:t>
            </a:r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265" y="138057"/>
            <a:ext cx="6527472" cy="1143001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1900069"/>
            <a:ext cx="10460736" cy="4134971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buChar char="•"/>
            </a:pPr>
            <a:r>
              <a:rPr lang="en-US" sz="2400" dirty="0">
                <a:ea typeface="+mn-lt"/>
                <a:cs typeface="+mn-lt"/>
              </a:rPr>
              <a:t>To provide a comprehensive and interactive overview of sales performance across products, channels, customers, and </a:t>
            </a:r>
            <a:r>
              <a:rPr lang="en-US" sz="2400">
                <a:ea typeface="+mn-lt"/>
                <a:cs typeface="+mn-lt"/>
              </a:rPr>
              <a:t>regions .</a:t>
            </a:r>
            <a:endParaRPr lang="en-US" dirty="0">
              <a:ea typeface="+mn-lt"/>
              <a:cs typeface="+mn-lt"/>
            </a:endParaRPr>
          </a:p>
          <a:p>
            <a:pPr marL="342900" indent="-342900" algn="just"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 algn="just">
              <a:buChar char="•"/>
            </a:pPr>
            <a:r>
              <a:rPr lang="en-US" sz="2400" dirty="0">
                <a:ea typeface="+mn-lt"/>
                <a:cs typeface="+mn-lt"/>
              </a:rPr>
              <a:t> enabling stakeholders to quickly assess total revenue, order quantities, profitability, and cost patterns. </a:t>
            </a:r>
            <a:endParaRPr lang="en-US">
              <a:ea typeface="+mn-lt"/>
              <a:cs typeface="+mn-lt"/>
            </a:endParaRPr>
          </a:p>
          <a:p>
            <a:pPr marL="342900" indent="-342900" algn="just"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 algn="just">
              <a:buChar char="•"/>
            </a:pPr>
            <a:r>
              <a:rPr lang="en-US" sz="2400">
                <a:ea typeface="+mn-lt"/>
                <a:cs typeface="+mn-lt"/>
              </a:rPr>
              <a:t>The dashboard </a:t>
            </a:r>
            <a:r>
              <a:rPr lang="en-US" sz="2400" dirty="0">
                <a:ea typeface="+mn-lt"/>
                <a:cs typeface="+mn-lt"/>
              </a:rPr>
              <a:t>supports data-driven decision-making by identifying top-performing products, key revenue channels, high-value customers, and geographical sales distribution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62725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272528"/>
            <a:ext cx="10460736" cy="963706"/>
          </a:xfrm>
          <a:noFill/>
        </p:spPr>
        <p:txBody>
          <a:bodyPr>
            <a:no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2079364"/>
            <a:ext cx="10460736" cy="3955676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 algn="just">
              <a:buFont typeface="Wingdings" panose="020B0604020202020204" pitchFamily="34" charset="0"/>
              <a:buChar char="§"/>
            </a:pPr>
            <a:r>
              <a:rPr lang="en-US" dirty="0"/>
              <a:t>Data extracting</a:t>
            </a:r>
            <a:endParaRPr lang="en-US"/>
          </a:p>
          <a:p>
            <a:pPr marL="457200" indent="-457200" algn="just">
              <a:buFont typeface="Wingdings" panose="020B0604020202020204" pitchFamily="34" charset="0"/>
              <a:buChar char="§"/>
            </a:pPr>
            <a:r>
              <a:rPr lang="en-US" dirty="0"/>
              <a:t>Data cleaning</a:t>
            </a:r>
          </a:p>
          <a:p>
            <a:pPr marL="457200" indent="-457200" algn="just">
              <a:buFont typeface="Wingdings" panose="020B0604020202020204" pitchFamily="34" charset="0"/>
              <a:buChar char="§"/>
            </a:pPr>
            <a:r>
              <a:rPr lang="en-US" dirty="0"/>
              <a:t>Data analysis</a:t>
            </a:r>
          </a:p>
          <a:p>
            <a:pPr marL="457200" indent="-457200" algn="just">
              <a:buFont typeface="Wingdings" panose="020B0604020202020204" pitchFamily="34" charset="0"/>
              <a:buChar char="§"/>
            </a:pPr>
            <a:r>
              <a:rPr lang="en-US" dirty="0"/>
              <a:t>DATA MODELLING</a:t>
            </a:r>
          </a:p>
          <a:p>
            <a:pPr marL="457200" indent="-457200" algn="just">
              <a:buFont typeface="Wingdings" panose="020B0604020202020204" pitchFamily="34" charset="0"/>
              <a:buChar char="§"/>
            </a:pPr>
            <a:r>
              <a:rPr lang="en-US" dirty="0"/>
              <a:t>Dax functions</a:t>
            </a:r>
          </a:p>
          <a:p>
            <a:pPr marL="457200" indent="-457200" algn="just">
              <a:buFont typeface="Wingdings" panose="020B0604020202020204" pitchFamily="34" charset="0"/>
              <a:buChar char="§"/>
            </a:pPr>
            <a:r>
              <a:rPr lang="en-US" dirty="0"/>
              <a:t>Power bi dashboard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252" y="365760"/>
            <a:ext cx="8179596" cy="948282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870" y="1717084"/>
            <a:ext cx="8724082" cy="3781904"/>
          </a:xfrm>
          <a:noFill/>
        </p:spPr>
        <p:txBody>
          <a:bodyPr>
            <a:noAutofit/>
          </a:bodyPr>
          <a:lstStyle/>
          <a:p>
            <a:r>
              <a:rPr lang="en-US" sz="3200" dirty="0"/>
              <a:t>It contain 4 tables they are:</a:t>
            </a:r>
            <a:endParaRPr lang="en-US"/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3200" dirty="0"/>
              <a:t>Sales data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3200"/>
              <a:t>Customer data</a:t>
            </a:r>
            <a:endParaRPr lang="en-US" sz="3200" dirty="0"/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3200" dirty="0"/>
              <a:t>Product data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3200" dirty="0"/>
              <a:t>Region data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6731" y="5346"/>
            <a:ext cx="7512304" cy="1523117"/>
          </a:xfrm>
          <a:noFill/>
        </p:spPr>
        <p:txBody>
          <a:bodyPr>
            <a:noAutofit/>
          </a:bodyPr>
          <a:lstStyle/>
          <a:p>
            <a:r>
              <a:rPr lang="en-US" dirty="0"/>
              <a:t>DATA CLEANING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48" y="1713242"/>
            <a:ext cx="10405694" cy="4639981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Data cleaning is done using power query editor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AD82B3-29A3-F7B5-3B6B-84E74A224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89" y="2396572"/>
            <a:ext cx="8924925" cy="428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3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1860606"/>
            <a:ext cx="10460736" cy="417443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buFont typeface="Wingdings" panose="020B0604020202020204" pitchFamily="34" charset="0"/>
              <a:buChar char="§"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TOTAL revenue = </a:t>
            </a:r>
            <a:r>
              <a:rPr lang="en-US" sz="2000" dirty="0">
                <a:solidFill>
                  <a:srgbClr val="3165BB"/>
                </a:solidFill>
                <a:latin typeface="Consolas"/>
              </a:rPr>
              <a:t>SUM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err="1">
                <a:solidFill>
                  <a:srgbClr val="001080"/>
                </a:solidFill>
                <a:latin typeface="Consolas"/>
              </a:rPr>
              <a:t>Sales_Data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[Total Revenue]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)</a:t>
            </a:r>
            <a:endParaRPr lang="en-US" sz="2000" dirty="0"/>
          </a:p>
          <a:p>
            <a:pPr marL="342900" indent="-342900" algn="just">
              <a:buFont typeface="Wingdings" panose="020B0604020202020204" pitchFamily="34" charset="0"/>
              <a:buChar char="§"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total quantity = </a:t>
            </a:r>
            <a:r>
              <a:rPr lang="en-US" sz="2000" dirty="0">
                <a:solidFill>
                  <a:srgbClr val="3165BB"/>
                </a:solidFill>
                <a:latin typeface="Consolas"/>
              </a:rPr>
              <a:t>SUM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err="1">
                <a:solidFill>
                  <a:srgbClr val="001080"/>
                </a:solidFill>
                <a:latin typeface="Consolas"/>
              </a:rPr>
              <a:t>Sales_Data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[Order Quantity]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)</a:t>
            </a:r>
            <a:endParaRPr lang="en-US" sz="2000" dirty="0"/>
          </a:p>
          <a:p>
            <a:pPr marL="342900" indent="-342900" algn="just">
              <a:buFont typeface="Wingdings" panose="020B0604020202020204" pitchFamily="34" charset="0"/>
              <a:buChar char="§"/>
            </a:pPr>
            <a:r>
              <a:rPr lang="en-US" sz="2000" err="1">
                <a:solidFill>
                  <a:srgbClr val="000000"/>
                </a:solidFill>
                <a:latin typeface="Consolas"/>
              </a:rPr>
              <a:t>MaxIMUM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unit price = </a:t>
            </a:r>
            <a:r>
              <a:rPr lang="en-US" sz="2000" dirty="0">
                <a:solidFill>
                  <a:srgbClr val="3165BB"/>
                </a:solidFill>
                <a:latin typeface="Consolas"/>
              </a:rPr>
              <a:t>MAX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err="1">
                <a:solidFill>
                  <a:srgbClr val="001080"/>
                </a:solidFill>
                <a:latin typeface="Consolas"/>
              </a:rPr>
              <a:t>Sales_Data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[Unit Price]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)</a:t>
            </a:r>
            <a:endParaRPr lang="en-US" sz="2000" dirty="0"/>
          </a:p>
          <a:p>
            <a:pPr marL="342900" indent="-342900" algn="just">
              <a:buFont typeface="Wingdings" panose="020B0604020202020204" pitchFamily="34" charset="0"/>
              <a:buChar char="§"/>
            </a:pPr>
            <a:r>
              <a:rPr lang="en-US" sz="2000" err="1">
                <a:solidFill>
                  <a:srgbClr val="000000"/>
                </a:solidFill>
                <a:latin typeface="Consolas"/>
              </a:rPr>
              <a:t>minIMUM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unit price = </a:t>
            </a:r>
            <a:r>
              <a:rPr lang="en-US" sz="2000" dirty="0">
                <a:solidFill>
                  <a:srgbClr val="3165BB"/>
                </a:solidFill>
                <a:latin typeface="Consolas"/>
              </a:rPr>
              <a:t>MIN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err="1">
                <a:solidFill>
                  <a:srgbClr val="001080"/>
                </a:solidFill>
                <a:latin typeface="Consolas"/>
              </a:rPr>
              <a:t>Sales_Data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[Total Unit Cost]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</a:t>
            </a:r>
            <a:endParaRPr lang="en-US" sz="2000" dirty="0"/>
          </a:p>
          <a:p>
            <a:pPr marL="342900" indent="-342900" algn="just">
              <a:buFont typeface="Wingdings" panose="020B0604020202020204" pitchFamily="34" charset="0"/>
              <a:buChar char="§"/>
            </a:pPr>
            <a:r>
              <a:rPr lang="en-US" sz="2000" dirty="0" err="1">
                <a:solidFill>
                  <a:srgbClr val="000000"/>
                </a:solidFill>
                <a:latin typeface="Consolas"/>
              </a:rPr>
              <a:t>avERAGE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VALUE OF total unit cost = </a:t>
            </a:r>
            <a:r>
              <a:rPr lang="en-US" sz="2000" dirty="0">
                <a:solidFill>
                  <a:srgbClr val="3165BB"/>
                </a:solidFill>
                <a:latin typeface="Consolas"/>
              </a:rPr>
              <a:t>AVERAGE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>
                <a:solidFill>
                  <a:srgbClr val="001080"/>
                </a:solidFill>
                <a:latin typeface="Consolas"/>
              </a:rPr>
              <a:t>Sales_Data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[Total Unit Cost]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</a:t>
            </a:r>
            <a:endParaRPr lang="en-US" sz="2000" dirty="0"/>
          </a:p>
          <a:p>
            <a:pPr marL="342900" indent="-342900" algn="just">
              <a:buFont typeface="Wingdings" panose="020B0604020202020204" pitchFamily="34" charset="0"/>
              <a:buChar char="§"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unique products = </a:t>
            </a:r>
            <a:r>
              <a:rPr lang="en-US" sz="2000" dirty="0">
                <a:solidFill>
                  <a:srgbClr val="3165BB"/>
                </a:solidFill>
                <a:latin typeface="Consolas"/>
              </a:rPr>
              <a:t>DISTINCTCOUNT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err="1">
                <a:solidFill>
                  <a:srgbClr val="001080"/>
                </a:solidFill>
                <a:latin typeface="Consolas"/>
              </a:rPr>
              <a:t>Products_Data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[Product Name]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</a:t>
            </a:r>
            <a:endParaRPr lang="en-US" sz="2000" dirty="0"/>
          </a:p>
          <a:p>
            <a:pPr marL="342900" indent="-342900" algn="just">
              <a:buFont typeface="Wingdings" panose="020B0604020202020204" pitchFamily="34" charset="0"/>
              <a:buChar char="§"/>
            </a:pPr>
            <a:r>
              <a:rPr lang="en-US" sz="2000" err="1">
                <a:solidFill>
                  <a:srgbClr val="000000"/>
                </a:solidFill>
                <a:latin typeface="Consolas"/>
              </a:rPr>
              <a:t>No.of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Orders = </a:t>
            </a:r>
            <a:r>
              <a:rPr lang="en-US" sz="2000" dirty="0">
                <a:solidFill>
                  <a:srgbClr val="3165BB"/>
                </a:solidFill>
                <a:latin typeface="Consolas"/>
              </a:rPr>
              <a:t>COUNT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err="1">
                <a:solidFill>
                  <a:srgbClr val="001080"/>
                </a:solidFill>
                <a:latin typeface="Consolas"/>
              </a:rPr>
              <a:t>Sales_Data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[</a:t>
            </a:r>
            <a:r>
              <a:rPr lang="en-US" sz="2000" err="1">
                <a:solidFill>
                  <a:srgbClr val="001080"/>
                </a:solidFill>
                <a:latin typeface="Consolas"/>
              </a:rPr>
              <a:t>OrderNumber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]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</a:t>
            </a:r>
            <a:endParaRPr lang="en-US" sz="2000"/>
          </a:p>
          <a:p>
            <a:pPr marL="342900" indent="-342900" algn="just">
              <a:buFont typeface="Wingdings" panose="020B0604020202020204" pitchFamily="34" charset="0"/>
              <a:buChar char="§"/>
            </a:pPr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62725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3" name="Title 132">
            <a:extLst>
              <a:ext uri="{FF2B5EF4-FFF2-40B4-BE49-F238E27FC236}">
                <a16:creationId xmlns:a16="http://schemas.microsoft.com/office/drawing/2014/main" id="{68C5CD06-01B7-7877-FDFB-4540F3194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387185"/>
            <a:ext cx="10460736" cy="1192696"/>
          </a:xfrm>
        </p:spPr>
        <p:txBody>
          <a:bodyPr/>
          <a:lstStyle/>
          <a:p>
            <a:r>
              <a:rPr lang="en-US" dirty="0"/>
              <a:t>DAX FUNCTIONS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252" y="365760"/>
            <a:ext cx="5970901" cy="1003499"/>
          </a:xfrm>
          <a:noFill/>
        </p:spPr>
        <p:txBody>
          <a:bodyPr>
            <a:noAutofit/>
          </a:bodyPr>
          <a:lstStyle/>
          <a:p>
            <a:r>
              <a:rPr lang="en-US" dirty="0"/>
              <a:t>DAX FUNCTIONS</a:t>
            </a:r>
          </a:p>
        </p:txBody>
      </p:sp>
      <p:pic>
        <p:nvPicPr>
          <p:cNvPr id="4" name="Content Placeholder 3" descr="A group of rectangular boxes with numbers&#10;&#10;AI-generated content may be incorrect.">
            <a:extLst>
              <a:ext uri="{FF2B5EF4-FFF2-40B4-BE49-F238E27FC236}">
                <a16:creationId xmlns:a16="http://schemas.microsoft.com/office/drawing/2014/main" id="{009F36D4-5FC6-7DA2-2760-1D0A931CA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8172" y="1709244"/>
            <a:ext cx="8547650" cy="4104416"/>
          </a:xfrm>
          <a:prstGeom prst="rect">
            <a:avLst/>
          </a:prstGeom>
          <a:noFill/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1708"/>
            <a:ext cx="10460736" cy="1987825"/>
          </a:xfrm>
          <a:noFill/>
        </p:spPr>
        <p:txBody>
          <a:bodyPr>
            <a:noAutofit/>
          </a:bodyPr>
          <a:lstStyle/>
          <a:p>
            <a:r>
              <a:rPr lang="en-US" dirty="0"/>
              <a:t>DASHBOARD OVERVIEW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1374693"/>
            <a:ext cx="10460736" cy="464930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126AE-AE4A-97A5-21F5-E5ACF7E0605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89963" y="2441575"/>
            <a:ext cx="3602037" cy="357505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. 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62725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29D0B0-5440-E5E5-6927-89FC78CF7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947"/>
            <a:ext cx="12192000" cy="580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731" y="365760"/>
            <a:ext cx="9836117" cy="937238"/>
          </a:xfrm>
          <a:noFill/>
        </p:spPr>
        <p:txBody>
          <a:bodyPr>
            <a:noAutofit/>
          </a:bodyPr>
          <a:lstStyle/>
          <a:p>
            <a:r>
              <a:rPr lang="en-US" dirty="0"/>
              <a:t>DASHBOARD OVERVIEW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1469BF76-5E71-DF2A-4804-7A26E9D95C80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210160088"/>
              </p:ext>
            </p:extLst>
          </p:nvPr>
        </p:nvGraphicFramePr>
        <p:xfrm>
          <a:off x="4233863" y="2524125"/>
          <a:ext cx="6692898" cy="326885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417592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1552381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1877730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1845195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</a:tblGrid>
              <a:tr h="699992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64221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64221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64221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64221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263980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3F922-669F-7D93-0C1C-D5B16E39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7FEA27-9DBA-95C4-6394-CDDB1884B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649" y="1476867"/>
            <a:ext cx="10022044" cy="5023280"/>
          </a:xfrm>
        </p:spPr>
        <p:txBody>
          <a:bodyPr>
            <a:normAutofit lnSpcReduction="10000"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The Sales Data Dashboard presents a consolidated view of business performance from 2017 to 2019, tracking key metrics such as </a:t>
            </a:r>
            <a:r>
              <a:rPr lang="en-US" b="1" dirty="0">
                <a:ea typeface="+mn-lt"/>
                <a:cs typeface="+mn-lt"/>
              </a:rPr>
              <a:t>total revenue (154.57M)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order quantity (68K)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profit (6.81M)</a:t>
            </a:r>
            <a:r>
              <a:rPr lang="en-US" dirty="0">
                <a:ea typeface="+mn-lt"/>
                <a:cs typeface="+mn-lt"/>
              </a:rPr>
              <a:t>. It breaks down revenue trends by </a:t>
            </a:r>
            <a:r>
              <a:rPr lang="en-US" b="1" dirty="0">
                <a:ea typeface="+mn-lt"/>
                <a:cs typeface="+mn-lt"/>
              </a:rPr>
              <a:t>channel</a:t>
            </a:r>
            <a:r>
              <a:rPr lang="en-US" dirty="0">
                <a:ea typeface="+mn-lt"/>
                <a:cs typeface="+mn-lt"/>
              </a:rPr>
              <a:t> (Wholesale, Distributor, Export), </a:t>
            </a:r>
            <a:r>
              <a:rPr lang="en-US" b="1" dirty="0">
                <a:ea typeface="+mn-lt"/>
                <a:cs typeface="+mn-lt"/>
              </a:rPr>
              <a:t>product performance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customer contributions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regional order distribution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Revenue by Channel &amp; Year:</a:t>
            </a:r>
            <a:r>
              <a:rPr lang="en-US" dirty="0">
                <a:ea typeface="+mn-lt"/>
                <a:cs typeface="+mn-lt"/>
              </a:rPr>
              <a:t> Highlights Wholesale as the largest contributor, followed by Distributor and Export.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Product Analysis:</a:t>
            </a:r>
            <a:r>
              <a:rPr lang="en-US" dirty="0">
                <a:ea typeface="+mn-lt"/>
                <a:cs typeface="+mn-lt"/>
              </a:rPr>
              <a:t> Shows top revenue-generating products and their associated unit costs.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Customer Segmentation:</a:t>
            </a:r>
            <a:r>
              <a:rPr lang="en-US" dirty="0">
                <a:ea typeface="+mn-lt"/>
                <a:cs typeface="+mn-lt"/>
              </a:rPr>
              <a:t> Pie chart of revenue share by top customers.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Geographical Insights:</a:t>
            </a:r>
            <a:r>
              <a:rPr lang="en-US" dirty="0">
                <a:ea typeface="+mn-lt"/>
                <a:cs typeface="+mn-lt"/>
              </a:rPr>
              <a:t> Bar chart of order quantities by city, with Hamilton leading.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Order Quantity by Channel:</a:t>
            </a:r>
            <a:r>
              <a:rPr lang="en-US" dirty="0">
                <a:ea typeface="+mn-lt"/>
                <a:cs typeface="+mn-lt"/>
              </a:rPr>
              <a:t> Shows volume split among Wholesale, Distributor, and Export.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221533"/>
            <a:ext cx="10460736" cy="1126436"/>
          </a:xfrm>
          <a:noFill/>
        </p:spPr>
        <p:txBody>
          <a:bodyPr>
            <a:noAutofit/>
          </a:bodyPr>
          <a:lstStyle/>
          <a:p>
            <a:r>
              <a:rPr lang="en-US" dirty="0"/>
              <a:t>KEY INSIGHTS 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5DB80CC-CD69-43A3-B676-C8EED8E94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5" y="1451998"/>
            <a:ext cx="11940560" cy="511312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buChar char="•"/>
            </a:pPr>
            <a:endParaRPr lang="en-US" sz="2000" b="1" dirty="0">
              <a:ea typeface="+mn-lt"/>
              <a:cs typeface="+mn-lt"/>
            </a:endParaRPr>
          </a:p>
          <a:p>
            <a:pPr marL="342900" indent="-342900" algn="just">
              <a:buChar char="•"/>
            </a:pPr>
            <a:r>
              <a:rPr lang="en-US" sz="2000" b="1" dirty="0">
                <a:ea typeface="+mn-lt"/>
                <a:cs typeface="+mn-lt"/>
              </a:rPr>
              <a:t>Profit</a:t>
            </a:r>
            <a:r>
              <a:rPr lang="en-US" sz="2000" dirty="0">
                <a:ea typeface="+mn-lt"/>
                <a:cs typeface="+mn-lt"/>
              </a:rPr>
              <a:t>: </a:t>
            </a:r>
            <a:r>
              <a:rPr lang="en-US" sz="2000" b="1" dirty="0">
                <a:ea typeface="+mn-lt"/>
                <a:cs typeface="+mn-lt"/>
              </a:rPr>
              <a:t>6.81M</a:t>
            </a:r>
            <a:r>
              <a:rPr lang="en-US" sz="2000" dirty="0">
                <a:ea typeface="+mn-lt"/>
                <a:cs typeface="+mn-lt"/>
              </a:rPr>
              <a:t> (~44% of the target 13.63M) – indicating potential for improvement.</a:t>
            </a:r>
            <a:endParaRPr lang="en-US"/>
          </a:p>
          <a:p>
            <a:pPr marL="342900" indent="-342900" algn="just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Wholesale</a:t>
            </a:r>
            <a:r>
              <a:rPr lang="en-US" sz="2000" dirty="0">
                <a:ea typeface="+mn-lt"/>
                <a:cs typeface="+mn-lt"/>
              </a:rPr>
              <a:t> is the highest revenue contributor (</a:t>
            </a:r>
            <a:r>
              <a:rPr lang="en-US" sz="2000" b="1" dirty="0">
                <a:ea typeface="+mn-lt"/>
                <a:cs typeface="+mn-lt"/>
              </a:rPr>
              <a:t>82.97M</a:t>
            </a:r>
            <a:r>
              <a:rPr lang="en-US" sz="2000" dirty="0">
                <a:ea typeface="+mn-lt"/>
                <a:cs typeface="+mn-lt"/>
              </a:rPr>
              <a:t> over 3 years).</a:t>
            </a:r>
            <a:endParaRPr lang="en-US" sz="2000"/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Distributor and Export channels are much smaller in comparison, with Export being the lowest (</a:t>
            </a:r>
            <a:r>
              <a:rPr lang="en-US" sz="2000" b="1" dirty="0">
                <a:ea typeface="+mn-lt"/>
                <a:cs typeface="+mn-lt"/>
              </a:rPr>
              <a:t>22.64M</a:t>
            </a:r>
            <a:r>
              <a:rPr lang="en-US" sz="2000" dirty="0">
                <a:ea typeface="+mn-lt"/>
                <a:cs typeface="+mn-lt"/>
              </a:rPr>
              <a:t>).</a:t>
            </a:r>
            <a:endParaRPr lang="en-US" sz="2000"/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Revenue slightly dropped in 2019 for Wholesale and Distributor.</a:t>
            </a:r>
            <a:endParaRPr lang="en-US" sz="2000" dirty="0"/>
          </a:p>
          <a:p>
            <a:pPr marL="342900" indent="-34290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Top 3 products contribute a majority of revenue, with the highest earning product generating </a:t>
            </a:r>
            <a:r>
              <a:rPr lang="en-US" sz="2000" b="1" dirty="0">
                <a:ea typeface="+mn-lt"/>
                <a:cs typeface="+mn-lt"/>
              </a:rPr>
              <a:t>25.71M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marL="342900" indent="-342900" algn="just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Pure Group</a:t>
            </a:r>
            <a:r>
              <a:rPr lang="en-US" sz="2000" dirty="0">
                <a:ea typeface="+mn-lt"/>
                <a:cs typeface="+mn-lt"/>
              </a:rPr>
              <a:t> (21.67%) and </a:t>
            </a:r>
            <a:r>
              <a:rPr lang="en-US" sz="2000" b="1" err="1">
                <a:ea typeface="+mn-lt"/>
                <a:cs typeface="+mn-lt"/>
              </a:rPr>
              <a:t>Apotheca</a:t>
            </a:r>
            <a:r>
              <a:rPr lang="en-US" sz="2000" b="1" dirty="0">
                <a:ea typeface="+mn-lt"/>
                <a:cs typeface="+mn-lt"/>
              </a:rPr>
              <a:t>, Ltd</a:t>
            </a:r>
            <a:r>
              <a:rPr lang="en-US" sz="2000" dirty="0">
                <a:ea typeface="+mn-lt"/>
                <a:cs typeface="+mn-lt"/>
              </a:rPr>
              <a:t> (20.29%) are top customers.</a:t>
            </a:r>
            <a:endParaRPr lang="en-US" sz="2000" dirty="0"/>
          </a:p>
          <a:p>
            <a:pPr marL="342900" indent="-342900" algn="just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Hamilton</a:t>
            </a:r>
            <a:r>
              <a:rPr lang="en-US" sz="2000" dirty="0">
                <a:ea typeface="+mn-lt"/>
                <a:cs typeface="+mn-lt"/>
              </a:rPr>
              <a:t> has the largest share, followed closely by Christchurch and Waitakere, while Manukau and Auckland have smaller order volumes.</a:t>
            </a:r>
            <a:endParaRPr lang="en-US" sz="2000" dirty="0"/>
          </a:p>
          <a:p>
            <a:pPr marL="342900" indent="-342900" algn="just">
              <a:buChar char="•"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AF320-61B9-87FA-4DF5-7C3B0DC125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62725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395792"/>
            <a:ext cx="10460736" cy="986118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RECOMMENDATIONS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5687AD8-AC4B-02A7-9EF3-65E45879F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1586306"/>
            <a:ext cx="10460736" cy="50650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Profit Improvement:</a:t>
            </a:r>
            <a:endParaRPr lang="en-US" sz="2000" dirty="0"/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Investigate cost structures for top products.</a:t>
            </a:r>
            <a:endParaRPr lang="en-US"/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Review pricing strategy for low-margin items.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Channel Diversification:</a:t>
            </a:r>
            <a:endParaRPr lang="en-US" sz="2000" dirty="0"/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Focus on growing Export and Distributor sales to reduce reliance on Wholesale.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Product Optimization:</a:t>
            </a:r>
            <a:endParaRPr lang="en-US" sz="2000" dirty="0"/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Consider discontinuing or repositioning low-revenue items.</a:t>
            </a:r>
            <a:endParaRPr lang="en-US" dirty="0"/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Push marketing for high-margin, mid-tier revenue products.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Geographic Expansion:</a:t>
            </a:r>
            <a:endParaRPr lang="en-US" sz="2000" dirty="0"/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Launch targeted campaigns in </a:t>
            </a:r>
            <a:r>
              <a:rPr lang="en-US" b="1" dirty="0">
                <a:ea typeface="+mn-lt"/>
                <a:cs typeface="+mn-lt"/>
              </a:rPr>
              <a:t>Manukau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Auckland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Yearly Trend Monitoring:</a:t>
            </a:r>
            <a:endParaRPr lang="en-US" sz="2000" dirty="0"/>
          </a:p>
          <a:p>
            <a:pPr marL="742950" lvl="1" indent="-285750" algn="just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Address the dip in 2019 through promotions,  or market reactivation strategies.</a:t>
            </a:r>
            <a:endParaRPr lang="en-US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317351"/>
            <a:ext cx="10460736" cy="1053354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707" y="1373394"/>
            <a:ext cx="11816647" cy="515470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Wholesale is the main revenue and order driver.</a:t>
            </a:r>
            <a:endParaRPr lang="en-US" sz="2000" dirty="0"/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 few products and customers are consistent top </a:t>
            </a:r>
            <a:r>
              <a:rPr lang="en-US" sz="2000" dirty="0" err="1">
                <a:ea typeface="+mn-lt"/>
                <a:cs typeface="+mn-lt"/>
              </a:rPr>
              <a:t>pERFORMERS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 err="1"/>
          </a:p>
          <a:p>
            <a:pPr marL="285750" indent="-285750" algn="just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Profit is significantly below the target, suggesting cost management or pricing issues.</a:t>
            </a:r>
            <a:endParaRPr lang="en-US" sz="2000" dirty="0"/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Heavy dependency on a few channels and customers increases business risk.</a:t>
            </a:r>
            <a:endParaRPr lang="en-US" sz="2000" dirty="0"/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Several products contribute very little revenue — these may require reevaluation.</a:t>
            </a:r>
            <a:endParaRPr lang="en-US" sz="2000" dirty="0"/>
          </a:p>
          <a:p>
            <a:pPr marL="285750" indent="-285750" algn="just">
              <a:buFont typeface="Arial"/>
              <a:buChar char="•"/>
            </a:pPr>
            <a:endParaRPr lang="en-US" sz="2000" b="1" dirty="0"/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Expand sales in Export and Distributor channels to reduce dependency on Wholesale.</a:t>
            </a:r>
            <a:endParaRPr lang="en-US" sz="2000" dirty="0"/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Optimize or phase out low-performing products.</a:t>
            </a:r>
            <a:endParaRPr lang="en-US" sz="2000" dirty="0"/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Target cities like Auckland and Manukau for growth campaigns.</a:t>
            </a:r>
            <a:endParaRPr lang="en-US" sz="2000" dirty="0"/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62725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8650" y="1154627"/>
            <a:ext cx="7637302" cy="1645023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9F7D870-58E6-48A2-A932-190ED7A8A1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</TotalTime>
  <Words>646</Words>
  <Application>Microsoft Office PowerPoint</Application>
  <PresentationFormat>Widescreen</PresentationFormat>
  <Paragraphs>93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Consolas</vt:lpstr>
      <vt:lpstr>Courier New</vt:lpstr>
      <vt:lpstr>Wingdings</vt:lpstr>
      <vt:lpstr>Custom</vt:lpstr>
      <vt:lpstr> SALES DATA </vt:lpstr>
      <vt:lpstr>OBJECTIVE</vt:lpstr>
      <vt:lpstr>METHODOLOGY</vt:lpstr>
      <vt:lpstr>DATASET OVERVIEW</vt:lpstr>
      <vt:lpstr>DATA CLEANING</vt:lpstr>
      <vt:lpstr>DAX FUNCTIONS</vt:lpstr>
      <vt:lpstr>DAX FUNCTIONS</vt:lpstr>
      <vt:lpstr>DASHBOARD OVERVIEW </vt:lpstr>
      <vt:lpstr>DASHBOARD OVERVIEW</vt:lpstr>
      <vt:lpstr>KEY INSIGHTS </vt:lpstr>
      <vt:lpstr>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SALES DATA </dc:title>
  <dc:creator/>
  <cp:lastModifiedBy>vaishnavictr2001@gmail.com</cp:lastModifiedBy>
  <cp:revision>309</cp:revision>
  <dcterms:created xsi:type="dcterms:W3CDTF">2025-08-13T08:43:04Z</dcterms:created>
  <dcterms:modified xsi:type="dcterms:W3CDTF">2025-10-10T12:15:18Z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